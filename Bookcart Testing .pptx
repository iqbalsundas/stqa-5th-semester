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64" r:id="rId10"/>
    <p:sldId id="265" r:id="rId11"/>
    <p:sldId id="266" r:id="rId12"/>
    <p:sldId id="272" r:id="rId13"/>
    <p:sldId id="273" r:id="rId14"/>
    <p:sldId id="274" r:id="rId15"/>
    <p:sldId id="267" r:id="rId16"/>
    <p:sldId id="275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025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95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12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38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48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42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55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8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38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31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902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55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835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432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922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724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65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92524EC-750E-4B6C-871B-990E119FFF03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03D5CF7-7B06-407E-A3AE-7DDD6265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68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cart.azurewebsites.net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A92954-65C1-4282-2773-AE5ACDA2B5CD}"/>
              </a:ext>
            </a:extLst>
          </p:cNvPr>
          <p:cNvSpPr txBox="1"/>
          <p:nvPr/>
        </p:nvSpPr>
        <p:spPr>
          <a:xfrm>
            <a:off x="2662176" y="1354237"/>
            <a:ext cx="855369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Book Cart Testing </a:t>
            </a: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Laiba Fayyaz (25)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Sundas Iqbal (31)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Afifa Rafiq (61)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Areesha Qamer (75)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Mr. Faisal Hafeez 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Information Technology </a:t>
            </a:r>
            <a:r>
              <a:rPr lang="en-GB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0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Morning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8B0A2-C5F2-C886-4D7D-B952570DA4F9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1355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B22843-527C-1F9C-104A-A9454BD98D41}"/>
              </a:ext>
            </a:extLst>
          </p:cNvPr>
          <p:cNvSpPr txBox="1"/>
          <p:nvPr/>
        </p:nvSpPr>
        <p:spPr>
          <a:xfrm>
            <a:off x="2486145" y="1004516"/>
            <a:ext cx="74975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None/>
            </a:pP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Project Title: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of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BookCart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</a:p>
          <a:p>
            <a:pPr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System: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BookCart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Online Book Store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sz="1600" dirty="0">
                <a:solidFill>
                  <a:srgbClr val="8E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https://bookcart.azurewebsites.net/</a:t>
            </a:r>
            <a:endParaRPr lang="en-GB" sz="1600" dirty="0">
              <a:solidFill>
                <a:srgbClr val="8E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System Type: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E-Commerce Application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563C8-31AB-E965-1AE2-B38646065BB9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3013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BAB572-310F-3500-751A-619F937A2C51}"/>
              </a:ext>
            </a:extLst>
          </p:cNvPr>
          <p:cNvSpPr txBox="1"/>
          <p:nvPr/>
        </p:nvSpPr>
        <p:spPr>
          <a:xfrm>
            <a:off x="2743200" y="1632030"/>
            <a:ext cx="788236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&amp; Users</a:t>
            </a: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Purpose: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books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and order management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book management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Users: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4F006-4FCA-12C8-E587-DEB92C4FEFE6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04508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781B6F-C015-8D5B-9975-68A4B15FF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793342"/>
              </p:ext>
            </p:extLst>
          </p:nvPr>
        </p:nvGraphicFramePr>
        <p:xfrm>
          <a:off x="3456007" y="2050037"/>
          <a:ext cx="5742972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52531">
                  <a:extLst>
                    <a:ext uri="{9D8B030D-6E8A-4147-A177-3AD203B41FA5}">
                      <a16:colId xmlns:a16="http://schemas.microsoft.com/office/drawing/2014/main" val="519100497"/>
                    </a:ext>
                  </a:extLst>
                </a:gridCol>
                <a:gridCol w="3090441">
                  <a:extLst>
                    <a:ext uri="{9D8B030D-6E8A-4147-A177-3AD203B41FA5}">
                      <a16:colId xmlns:a16="http://schemas.microsoft.com/office/drawing/2014/main" val="2881127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778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Register, Login, Logout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925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&amp; Search 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4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/ Remove 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06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 &amp; View Orders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022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 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407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8224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9E34D9-9A7D-AB2C-3EF7-8947879FE365}"/>
              </a:ext>
            </a:extLst>
          </p:cNvPr>
          <p:cNvSpPr txBox="1"/>
          <p:nvPr/>
        </p:nvSpPr>
        <p:spPr>
          <a:xfrm>
            <a:off x="4006769" y="800500"/>
            <a:ext cx="464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	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Functional Modules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49E23E-9104-FFCF-87CA-9AB73BD6411E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1877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1C02A8-CDD9-2BD5-5670-EE2A2DCBC467}"/>
              </a:ext>
            </a:extLst>
          </p:cNvPr>
          <p:cNvSpPr txBox="1"/>
          <p:nvPr/>
        </p:nvSpPr>
        <p:spPr>
          <a:xfrm>
            <a:off x="1863524" y="972273"/>
            <a:ext cx="82064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Scope &amp; Tools</a:t>
            </a: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Testing Types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Testing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</a:t>
            </a:r>
          </a:p>
          <a:p>
            <a:endParaRPr lang="en-GB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5D8CFC-7585-B451-F178-6FE2BF64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9666"/>
              </p:ext>
            </p:extLst>
          </p:nvPr>
        </p:nvGraphicFramePr>
        <p:xfrm>
          <a:off x="3532207" y="3246307"/>
          <a:ext cx="5127585" cy="13716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444726">
                  <a:extLst>
                    <a:ext uri="{9D8B030D-6E8A-4147-A177-3AD203B41FA5}">
                      <a16:colId xmlns:a16="http://schemas.microsoft.com/office/drawing/2014/main" val="3578726048"/>
                    </a:ext>
                  </a:extLst>
                </a:gridCol>
                <a:gridCol w="2682859">
                  <a:extLst>
                    <a:ext uri="{9D8B030D-6E8A-4147-A177-3AD203B41FA5}">
                      <a16:colId xmlns:a16="http://schemas.microsoft.com/office/drawing/2014/main" val="454754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Purpose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722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Selenium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705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Postman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API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428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Jira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Bug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79067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112CFF2-3095-46B1-E27C-45F421C44D88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7176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222741-9BCE-8693-8B15-B7D3C45A8C06}"/>
              </a:ext>
            </a:extLst>
          </p:cNvPr>
          <p:cNvSpPr txBox="1"/>
          <p:nvPr/>
        </p:nvSpPr>
        <p:spPr>
          <a:xfrm>
            <a:off x="1400537" y="659756"/>
            <a:ext cx="85652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Overview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Objective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Verify system functionality manually based on requirements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Coverage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testing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responsiveness testing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9FCBA8-AFC5-603F-2F8F-AA2A17F3FB7F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971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A92AFA-57CB-E8EF-2267-0EED675344F3}"/>
              </a:ext>
            </a:extLst>
          </p:cNvPr>
          <p:cNvSpPr txBox="1"/>
          <p:nvPr/>
        </p:nvSpPr>
        <p:spPr>
          <a:xfrm>
            <a:off x="1298294" y="428263"/>
            <a:ext cx="101046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Results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Test Cases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Manual Test Cases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1E3F60-285D-3DE7-81A8-7C0166B63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948134"/>
              </p:ext>
            </p:extLst>
          </p:nvPr>
        </p:nvGraphicFramePr>
        <p:xfrm>
          <a:off x="1534127" y="1863837"/>
          <a:ext cx="4187624" cy="1565163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04181">
                  <a:extLst>
                    <a:ext uri="{9D8B030D-6E8A-4147-A177-3AD203B41FA5}">
                      <a16:colId xmlns:a16="http://schemas.microsoft.com/office/drawing/2014/main" val="371715031"/>
                    </a:ext>
                  </a:extLst>
                </a:gridCol>
                <a:gridCol w="2083443">
                  <a:extLst>
                    <a:ext uri="{9D8B030D-6E8A-4147-A177-3AD203B41FA5}">
                      <a16:colId xmlns:a16="http://schemas.microsoft.com/office/drawing/2014/main" val="3797464195"/>
                    </a:ext>
                  </a:extLst>
                </a:gridCol>
              </a:tblGrid>
              <a:tr h="41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2939929"/>
                  </a:ext>
                </a:extLst>
              </a:tr>
              <a:tr h="378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755152"/>
                  </a:ext>
                </a:extLst>
              </a:tr>
              <a:tr h="378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30092"/>
                  </a:ext>
                </a:extLst>
              </a:tr>
              <a:tr h="39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56159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16A473-8980-B1E7-6BB1-384EEFF58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171544"/>
              </p:ext>
            </p:extLst>
          </p:nvPr>
        </p:nvGraphicFramePr>
        <p:xfrm>
          <a:off x="1810714" y="4288091"/>
          <a:ext cx="3634450" cy="19260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34450">
                  <a:extLst>
                    <a:ext uri="{9D8B030D-6E8A-4147-A177-3AD203B41FA5}">
                      <a16:colId xmlns:a16="http://schemas.microsoft.com/office/drawing/2014/main" val="2549562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Key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041470"/>
                  </a:ext>
                </a:extLst>
              </a:tr>
              <a:tr h="36531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 not displayed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07067"/>
                  </a:ext>
                </a:extLst>
              </a:tr>
              <a:tr h="3703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to cart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425015"/>
                  </a:ext>
                </a:extLst>
              </a:tr>
              <a:tr h="3819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login error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429088"/>
                  </a:ext>
                </a:extLst>
              </a:tr>
              <a:tr h="473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UI responsiveness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31675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D166CE5-947D-97DC-CF24-6E3483408998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7080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F9E1BA-DAB7-9D97-A9AD-91A8F555C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454617"/>
              </p:ext>
            </p:extLst>
          </p:nvPr>
        </p:nvGraphicFramePr>
        <p:xfrm>
          <a:off x="3422248" y="2346114"/>
          <a:ext cx="5347503" cy="170688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905245">
                  <a:extLst>
                    <a:ext uri="{9D8B030D-6E8A-4147-A177-3AD203B41FA5}">
                      <a16:colId xmlns:a16="http://schemas.microsoft.com/office/drawing/2014/main" val="240340777"/>
                    </a:ext>
                  </a:extLst>
                </a:gridCol>
                <a:gridCol w="2442258">
                  <a:extLst>
                    <a:ext uri="{9D8B030D-6E8A-4147-A177-3AD203B41FA5}">
                      <a16:colId xmlns:a16="http://schemas.microsoft.com/office/drawing/2014/main" val="3813845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852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Homepage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322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 with valid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560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book to 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387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Responsiveness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6018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D5081C-304D-3CA2-E1A9-793344C934B6}"/>
              </a:ext>
            </a:extLst>
          </p:cNvPr>
          <p:cNvSpPr txBox="1"/>
          <p:nvPr/>
        </p:nvSpPr>
        <p:spPr>
          <a:xfrm>
            <a:off x="2500132" y="1018572"/>
            <a:ext cx="6192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Manual Test Cases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8498C-97C7-C063-6799-0D17106E1DB9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10505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F3ACC-F3FF-1960-265A-4FF02730F1F1}"/>
              </a:ext>
            </a:extLst>
          </p:cNvPr>
          <p:cNvSpPr txBox="1"/>
          <p:nvPr/>
        </p:nvSpPr>
        <p:spPr>
          <a:xfrm>
            <a:off x="2222339" y="520861"/>
            <a:ext cx="79981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Testing Overview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Purpose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critical user flows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test repeatability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Tool Stack: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F0E5DD-23CE-96EE-FB35-69D434BD2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429952"/>
              </p:ext>
            </p:extLst>
          </p:nvPr>
        </p:nvGraphicFramePr>
        <p:xfrm>
          <a:off x="3347494" y="3836934"/>
          <a:ext cx="5747795" cy="134112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472159">
                  <a:extLst>
                    <a:ext uri="{9D8B030D-6E8A-4147-A177-3AD203B41FA5}">
                      <a16:colId xmlns:a16="http://schemas.microsoft.com/office/drawing/2014/main" val="1127805574"/>
                    </a:ext>
                  </a:extLst>
                </a:gridCol>
                <a:gridCol w="3275636">
                  <a:extLst>
                    <a:ext uri="{9D8B030D-6E8A-4147-A177-3AD203B41FA5}">
                      <a16:colId xmlns:a16="http://schemas.microsoft.com/office/drawing/2014/main" val="117296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922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 scripting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46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Selenium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Browser automation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82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6776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55AF625-259C-F299-5B69-FE9680AFADD7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54749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A039A1-2A8A-DDB9-F244-23388D86E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166247"/>
              </p:ext>
            </p:extLst>
          </p:nvPr>
        </p:nvGraphicFramePr>
        <p:xfrm>
          <a:off x="3060540" y="2112306"/>
          <a:ext cx="6534873" cy="301752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270812">
                  <a:extLst>
                    <a:ext uri="{9D8B030D-6E8A-4147-A177-3AD203B41FA5}">
                      <a16:colId xmlns:a16="http://schemas.microsoft.com/office/drawing/2014/main" val="3990144284"/>
                    </a:ext>
                  </a:extLst>
                </a:gridCol>
                <a:gridCol w="3264061">
                  <a:extLst>
                    <a:ext uri="{9D8B030D-6E8A-4147-A177-3AD203B41FA5}">
                      <a16:colId xmlns:a16="http://schemas.microsoft.com/office/drawing/2014/main" val="3668882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958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Homepage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745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053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14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072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to 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98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70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34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1549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7FD73A-E7FF-BD98-F54B-72A4E1FCEECA}"/>
              </a:ext>
            </a:extLst>
          </p:cNvPr>
          <p:cNvSpPr txBox="1"/>
          <p:nvPr/>
        </p:nvSpPr>
        <p:spPr>
          <a:xfrm>
            <a:off x="3877519" y="775504"/>
            <a:ext cx="4467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Test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7965F-5566-1316-C057-805D700996DE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51593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027B88-8636-40CA-70FE-17EAB9D8C5EE}"/>
              </a:ext>
            </a:extLst>
          </p:cNvPr>
          <p:cNvSpPr txBox="1"/>
          <p:nvPr/>
        </p:nvSpPr>
        <p:spPr>
          <a:xfrm>
            <a:off x="1192192" y="544010"/>
            <a:ext cx="1002367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					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 Overview</a:t>
            </a: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API Testing using Postman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BookCart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APIs Tested: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tested: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Login, Profile, Dashboard, Delete Book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GET, POST, PUT, DELETE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CC8736-B254-6855-DA2E-8268B37F8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855446"/>
              </p:ext>
            </p:extLst>
          </p:nvPr>
        </p:nvGraphicFramePr>
        <p:xfrm>
          <a:off x="1559688" y="3632519"/>
          <a:ext cx="9007998" cy="185928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830975">
                  <a:extLst>
                    <a:ext uri="{9D8B030D-6E8A-4147-A177-3AD203B41FA5}">
                      <a16:colId xmlns:a16="http://schemas.microsoft.com/office/drawing/2014/main" val="3022317202"/>
                    </a:ext>
                  </a:extLst>
                </a:gridCol>
                <a:gridCol w="2858947">
                  <a:extLst>
                    <a:ext uri="{9D8B030D-6E8A-4147-A177-3AD203B41FA5}">
                      <a16:colId xmlns:a16="http://schemas.microsoft.com/office/drawing/2014/main" val="2800082037"/>
                    </a:ext>
                  </a:extLst>
                </a:gridCol>
                <a:gridCol w="3318076">
                  <a:extLst>
                    <a:ext uri="{9D8B030D-6E8A-4147-A177-3AD203B41FA5}">
                      <a16:colId xmlns:a16="http://schemas.microsoft.com/office/drawing/2014/main" val="4009067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65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551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92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246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 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4547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BC7773-40B5-0E45-2EFA-C900A521688A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5467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79DB9C-6751-51F4-90DE-4A19C7F89532}"/>
              </a:ext>
            </a:extLst>
          </p:cNvPr>
          <p:cNvSpPr txBox="1"/>
          <p:nvPr/>
        </p:nvSpPr>
        <p:spPr>
          <a:xfrm>
            <a:off x="1292352" y="270498"/>
            <a:ext cx="881481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Demo </a:t>
            </a: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API Execution Demo</a:t>
            </a: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request returning 405</a:t>
            </a: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DD616-30C4-9D48-B059-FB3D9F023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723" y="2036064"/>
            <a:ext cx="8091445" cy="4551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62017A-0FDD-90C6-A0EA-3947695E0E12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920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F92B9-572A-7A32-3D4E-95A72550665E}"/>
              </a:ext>
            </a:extLst>
          </p:cNvPr>
          <p:cNvSpPr txBox="1"/>
          <p:nvPr/>
        </p:nvSpPr>
        <p:spPr>
          <a:xfrm>
            <a:off x="1463040" y="806958"/>
            <a:ext cx="2682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request returning 200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182A0-1F8E-F395-5B52-7F2907F96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496" y="1243584"/>
            <a:ext cx="8546592" cy="4807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490DA6-51B6-307C-8F28-F502715013E6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4756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8A7940-2401-1068-EEA7-15859D555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30905"/>
              </p:ext>
            </p:extLst>
          </p:nvPr>
        </p:nvGraphicFramePr>
        <p:xfrm>
          <a:off x="3535680" y="2011680"/>
          <a:ext cx="5462016" cy="15410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62016">
                  <a:extLst>
                    <a:ext uri="{9D8B030D-6E8A-4147-A177-3AD203B41FA5}">
                      <a16:colId xmlns:a16="http://schemas.microsoft.com/office/drawing/2014/main" val="3521380719"/>
                    </a:ext>
                  </a:extLst>
                </a:gridCol>
              </a:tblGrid>
              <a:tr h="6312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Executed API requests using Postman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813446"/>
                  </a:ext>
                </a:extLst>
              </a:tr>
              <a:tr h="48303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405 Method Not Allowed for POST/PUT/DELETE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97315"/>
                  </a:ext>
                </a:extLst>
              </a:tr>
              <a:tr h="4267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 responses for GET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8822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1CEC4B-0F79-AC98-8F20-14807402619E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088B4-F61D-CCC1-11DC-6097FA892F6C}"/>
              </a:ext>
            </a:extLst>
          </p:cNvPr>
          <p:cNvSpPr txBox="1"/>
          <p:nvPr/>
        </p:nvSpPr>
        <p:spPr>
          <a:xfrm>
            <a:off x="2487168" y="154830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</p:txBody>
      </p:sp>
    </p:spTree>
    <p:extLst>
      <p:ext uri="{BB962C8B-B14F-4D97-AF65-F5344CB8AC3E}">
        <p14:creationId xmlns:p14="http://schemas.microsoft.com/office/powerpoint/2010/main" val="1629242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E7A046-1247-804A-9D92-AD69C59AC5F7}"/>
              </a:ext>
            </a:extLst>
          </p:cNvPr>
          <p:cNvSpPr txBox="1"/>
          <p:nvPr/>
        </p:nvSpPr>
        <p:spPr>
          <a:xfrm>
            <a:off x="1909823" y="1041721"/>
            <a:ext cx="80559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Reporting &amp; Documentation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Bug Reporting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 Jira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Defects Logged: 5–7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defect format used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QA Documents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Plan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 Cases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Scripts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Collection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&amp; Defect Summary Reports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EF549-2C23-5322-22A4-A3A3904D7737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00884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8FB841-C6F7-2364-9AE7-9DE6986D53CE}"/>
              </a:ext>
            </a:extLst>
          </p:cNvPr>
          <p:cNvSpPr txBox="1"/>
          <p:nvPr/>
        </p:nvSpPr>
        <p:spPr>
          <a:xfrm>
            <a:off x="1877568" y="463296"/>
            <a:ext cx="838809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Logging</a:t>
            </a: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Reporting from API Testing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failures logged in Jira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BF271-08EB-5A58-42B1-5DC9C8D9D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0" b="10241"/>
          <a:stretch>
            <a:fillRect/>
          </a:stretch>
        </p:blipFill>
        <p:spPr>
          <a:xfrm>
            <a:off x="2340864" y="2471411"/>
            <a:ext cx="8388096" cy="4008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B74739-51F3-5770-FE53-8A919817A0E2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01963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13077F-1851-468A-3B91-1A7ECEBEC35D}"/>
              </a:ext>
            </a:extLst>
          </p:cNvPr>
          <p:cNvSpPr txBox="1"/>
          <p:nvPr/>
        </p:nvSpPr>
        <p:spPr>
          <a:xfrm>
            <a:off x="1551007" y="1365812"/>
            <a:ext cx="1016257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</a:t>
            </a: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Manual, Automation &amp; API testing completed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functional and API defects identified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reduced testing effort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QA documentation ensured traceability and quality</a:t>
            </a:r>
          </a:p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3B381-D8AD-3865-72CF-81A85D1594A3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1383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79D02-51FC-825D-BE68-015F45A588E7}"/>
              </a:ext>
            </a:extLst>
          </p:cNvPr>
          <p:cNvSpPr txBox="1"/>
          <p:nvPr/>
        </p:nvSpPr>
        <p:spPr>
          <a:xfrm>
            <a:off x="2650602" y="2844225"/>
            <a:ext cx="75351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GB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6990A-B7D6-AD0F-7D52-2E79F2E5E5D7}"/>
              </a:ext>
            </a:extLst>
          </p:cNvPr>
          <p:cNvSpPr txBox="1"/>
          <p:nvPr/>
        </p:nvSpPr>
        <p:spPr>
          <a:xfrm>
            <a:off x="10567686" y="572946"/>
            <a:ext cx="52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51498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BFBFBF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183</TotalTime>
  <Words>663</Words>
  <Application>Microsoft Office PowerPoint</Application>
  <PresentationFormat>Widescreen</PresentationFormat>
  <Paragraphs>239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Laiba Fayyaz</dc:creator>
  <cp:lastModifiedBy>Laiba Fayyaz</cp:lastModifiedBy>
  <cp:revision>10</cp:revision>
  <dcterms:created xsi:type="dcterms:W3CDTF">2026-01-19T17:08:57Z</dcterms:created>
  <dcterms:modified xsi:type="dcterms:W3CDTF">2026-01-19T20:16:31Z</dcterms:modified>
</cp:coreProperties>
</file>